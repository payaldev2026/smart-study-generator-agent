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81" r:id="rId7"/>
    <p:sldId id="279" r:id="rId8"/>
    <p:sldId id="290" r:id="rId9"/>
    <p:sldId id="291" r:id="rId10"/>
    <p:sldId id="292" r:id="rId11"/>
    <p:sldId id="262" r:id="rId12"/>
    <p:sldId id="264"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58C980-2C5B-4952-8FBD-CA692F3B03E5}" v="14" dt="2026-07-18T05:45:35.95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260"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 Kadam" userId="c7263a605f2416ed" providerId="LiveId" clId="{17604387-8CF3-450D-8459-EBD68BD0DB89}"/>
    <pc:docChg chg="undo custSel modSld">
      <pc:chgData name="Raj Kadam" userId="c7263a605f2416ed" providerId="LiveId" clId="{17604387-8CF3-450D-8459-EBD68BD0DB89}" dt="2026-07-18T05:46:25.214" v="243" actId="20577"/>
      <pc:docMkLst>
        <pc:docMk/>
      </pc:docMkLst>
      <pc:sldChg chg="modSp mod">
        <pc:chgData name="Raj Kadam" userId="c7263a605f2416ed" providerId="LiveId" clId="{17604387-8CF3-450D-8459-EBD68BD0DB89}" dt="2026-07-18T05:00:54.650" v="7" actId="20577"/>
        <pc:sldMkLst>
          <pc:docMk/>
          <pc:sldMk cId="0" sldId="257"/>
        </pc:sldMkLst>
        <pc:spChg chg="mod">
          <ac:chgData name="Raj Kadam" userId="c7263a605f2416ed" providerId="LiveId" clId="{17604387-8CF3-450D-8459-EBD68BD0DB89}" dt="2026-07-18T05:00:34.525" v="4" actId="13926"/>
          <ac:spMkLst>
            <pc:docMk/>
            <pc:sldMk cId="0" sldId="257"/>
            <ac:spMk id="4" creationId="{A828B9EF-C084-F5D4-CA27-75AF7D995640}"/>
          </ac:spMkLst>
        </pc:spChg>
        <pc:spChg chg="mod">
          <ac:chgData name="Raj Kadam" userId="c7263a605f2416ed" providerId="LiveId" clId="{17604387-8CF3-450D-8459-EBD68BD0DB89}" dt="2026-07-18T05:00:54.650" v="7" actId="20577"/>
          <ac:spMkLst>
            <pc:docMk/>
            <pc:sldMk cId="0" sldId="257"/>
            <ac:spMk id="7" creationId="{3D723CA3-EC2D-165A-F109-3759C4E9C8A4}"/>
          </ac:spMkLst>
        </pc:spChg>
      </pc:sldChg>
      <pc:sldChg chg="addSp delSp modSp mod">
        <pc:chgData name="Raj Kadam" userId="c7263a605f2416ed" providerId="LiveId" clId="{17604387-8CF3-450D-8459-EBD68BD0DB89}" dt="2026-07-18T05:41:19.197" v="218" actId="14100"/>
        <pc:sldMkLst>
          <pc:docMk/>
          <pc:sldMk cId="0" sldId="262"/>
        </pc:sldMkLst>
        <pc:picChg chg="del">
          <ac:chgData name="Raj Kadam" userId="c7263a605f2416ed" providerId="LiveId" clId="{17604387-8CF3-450D-8459-EBD68BD0DB89}" dt="2026-07-18T05:41:07.615" v="214" actId="478"/>
          <ac:picMkLst>
            <pc:docMk/>
            <pc:sldMk cId="0" sldId="262"/>
            <ac:picMk id="3" creationId="{81932CE2-F219-0CA8-0102-55B8C682B8A2}"/>
          </ac:picMkLst>
        </pc:picChg>
        <pc:picChg chg="add mod">
          <ac:chgData name="Raj Kadam" userId="c7263a605f2416ed" providerId="LiveId" clId="{17604387-8CF3-450D-8459-EBD68BD0DB89}" dt="2026-07-18T05:41:19.197" v="218" actId="14100"/>
          <ac:picMkLst>
            <pc:docMk/>
            <pc:sldMk cId="0" sldId="262"/>
            <ac:picMk id="5" creationId="{D2F6A97F-9A98-1979-491F-05D191DE0E40}"/>
          </ac:picMkLst>
        </pc:picChg>
      </pc:sldChg>
      <pc:sldChg chg="modSp mod">
        <pc:chgData name="Raj Kadam" userId="c7263a605f2416ed" providerId="LiveId" clId="{17604387-8CF3-450D-8459-EBD68BD0DB89}" dt="2026-07-18T05:43:17.747" v="230" actId="20577"/>
        <pc:sldMkLst>
          <pc:docMk/>
          <pc:sldMk cId="0" sldId="264"/>
        </pc:sldMkLst>
        <pc:spChg chg="mod">
          <ac:chgData name="Raj Kadam" userId="c7263a605f2416ed" providerId="LiveId" clId="{17604387-8CF3-450D-8459-EBD68BD0DB89}" dt="2026-07-18T05:43:17.747" v="230" actId="20577"/>
          <ac:spMkLst>
            <pc:docMk/>
            <pc:sldMk cId="0" sldId="264"/>
            <ac:spMk id="3" creationId="{322462E8-EB3A-DA7D-44CB-4E757803A755}"/>
          </ac:spMkLst>
        </pc:spChg>
      </pc:sldChg>
      <pc:sldChg chg="addSp delSp modSp mod">
        <pc:chgData name="Raj Kadam" userId="c7263a605f2416ed" providerId="LiveId" clId="{17604387-8CF3-450D-8459-EBD68BD0DB89}" dt="2026-07-18T05:13:10.101" v="186" actId="14100"/>
        <pc:sldMkLst>
          <pc:docMk/>
          <pc:sldMk cId="2772501912" sldId="279"/>
        </pc:sldMkLst>
        <pc:picChg chg="add mod">
          <ac:chgData name="Raj Kadam" userId="c7263a605f2416ed" providerId="LiveId" clId="{17604387-8CF3-450D-8459-EBD68BD0DB89}" dt="2026-07-18T05:13:10.101" v="186" actId="14100"/>
          <ac:picMkLst>
            <pc:docMk/>
            <pc:sldMk cId="2772501912" sldId="279"/>
            <ac:picMk id="4" creationId="{DB544E61-0560-86C9-A104-D67FA816CB53}"/>
          </ac:picMkLst>
        </pc:picChg>
        <pc:picChg chg="del">
          <ac:chgData name="Raj Kadam" userId="c7263a605f2416ed" providerId="LiveId" clId="{17604387-8CF3-450D-8459-EBD68BD0DB89}" dt="2026-07-18T05:12:21.128" v="179" actId="478"/>
          <ac:picMkLst>
            <pc:docMk/>
            <pc:sldMk cId="2772501912" sldId="279"/>
            <ac:picMk id="6" creationId="{4C7FC88A-B369-455A-F57A-122CC34E5233}"/>
          </ac:picMkLst>
        </pc:picChg>
      </pc:sldChg>
      <pc:sldChg chg="modSp mod">
        <pc:chgData name="Raj Kadam" userId="c7263a605f2416ed" providerId="LiveId" clId="{17604387-8CF3-450D-8459-EBD68BD0DB89}" dt="2026-07-18T05:46:25.214" v="243" actId="20577"/>
        <pc:sldMkLst>
          <pc:docMk/>
          <pc:sldMk cId="2136706720" sldId="280"/>
        </pc:sldMkLst>
        <pc:spChg chg="mod">
          <ac:chgData name="Raj Kadam" userId="c7263a605f2416ed" providerId="LiveId" clId="{17604387-8CF3-450D-8459-EBD68BD0DB89}" dt="2026-07-18T05:46:25.214" v="243" actId="20577"/>
          <ac:spMkLst>
            <pc:docMk/>
            <pc:sldMk cId="2136706720" sldId="280"/>
            <ac:spMk id="279" creationId="{EAFA16CB-0A72-5AC5-69A0-ABF4A752B43F}"/>
          </ac:spMkLst>
        </pc:spChg>
      </pc:sldChg>
      <pc:sldChg chg="modSp mod">
        <pc:chgData name="Raj Kadam" userId="c7263a605f2416ed" providerId="LiveId" clId="{17604387-8CF3-450D-8459-EBD68BD0DB89}" dt="2026-07-18T05:10:04.798" v="178" actId="13926"/>
        <pc:sldMkLst>
          <pc:docMk/>
          <pc:sldMk cId="328526394" sldId="281"/>
        </pc:sldMkLst>
        <pc:spChg chg="mod">
          <ac:chgData name="Raj Kadam" userId="c7263a605f2416ed" providerId="LiveId" clId="{17604387-8CF3-450D-8459-EBD68BD0DB89}" dt="2026-07-18T05:10:04.798" v="178" actId="13926"/>
          <ac:spMkLst>
            <pc:docMk/>
            <pc:sldMk cId="328526394" sldId="281"/>
            <ac:spMk id="2" creationId="{9BB86949-7ED1-C43B-B1E3-5122BB67A596}"/>
          </ac:spMkLst>
        </pc:spChg>
      </pc:sldChg>
      <pc:sldChg chg="modSp mod">
        <pc:chgData name="Raj Kadam" userId="c7263a605f2416ed" providerId="LiveId" clId="{17604387-8CF3-450D-8459-EBD68BD0DB89}" dt="2026-07-18T05:03:57.609" v="106" actId="20577"/>
        <pc:sldMkLst>
          <pc:docMk/>
          <pc:sldMk cId="2952584201" sldId="282"/>
        </pc:sldMkLst>
        <pc:spChg chg="mod">
          <ac:chgData name="Raj Kadam" userId="c7263a605f2416ed" providerId="LiveId" clId="{17604387-8CF3-450D-8459-EBD68BD0DB89}" dt="2026-07-18T05:03:57.609" v="106" actId="20577"/>
          <ac:spMkLst>
            <pc:docMk/>
            <pc:sldMk cId="2952584201" sldId="282"/>
            <ac:spMk id="2" creationId="{C6F6745E-14BA-0766-CE1E-32E29663832D}"/>
          </ac:spMkLst>
        </pc:spChg>
      </pc:sldChg>
      <pc:sldChg chg="modSp mod">
        <pc:chgData name="Raj Kadam" userId="c7263a605f2416ed" providerId="LiveId" clId="{17604387-8CF3-450D-8459-EBD68BD0DB89}" dt="2026-07-18T05:06:21.139" v="119" actId="20577"/>
        <pc:sldMkLst>
          <pc:docMk/>
          <pc:sldMk cId="2290294991" sldId="285"/>
        </pc:sldMkLst>
        <pc:spChg chg="mod">
          <ac:chgData name="Raj Kadam" userId="c7263a605f2416ed" providerId="LiveId" clId="{17604387-8CF3-450D-8459-EBD68BD0DB89}" dt="2026-07-18T05:06:21.139" v="119" actId="20577"/>
          <ac:spMkLst>
            <pc:docMk/>
            <pc:sldMk cId="2290294991" sldId="285"/>
            <ac:spMk id="2" creationId="{4A1BF701-ABCA-4DF0-8330-B6AF71EF8E39}"/>
          </ac:spMkLst>
        </pc:spChg>
      </pc:sldChg>
      <pc:sldChg chg="modSp">
        <pc:chgData name="Raj Kadam" userId="c7263a605f2416ed" providerId="LiveId" clId="{17604387-8CF3-450D-8459-EBD68BD0DB89}" dt="2026-07-18T05:44:11.582" v="231"/>
        <pc:sldMkLst>
          <pc:docMk/>
          <pc:sldMk cId="917964102" sldId="286"/>
        </pc:sldMkLst>
        <pc:spChg chg="mod">
          <ac:chgData name="Raj Kadam" userId="c7263a605f2416ed" providerId="LiveId" clId="{17604387-8CF3-450D-8459-EBD68BD0DB89}" dt="2026-07-18T05:44:11.582" v="231"/>
          <ac:spMkLst>
            <pc:docMk/>
            <pc:sldMk cId="917964102" sldId="286"/>
            <ac:spMk id="3" creationId="{ED65F54F-855A-0DB6-09A6-3212C5F7405B}"/>
          </ac:spMkLst>
        </pc:spChg>
      </pc:sldChg>
      <pc:sldChg chg="addSp delSp modSp mod">
        <pc:chgData name="Raj Kadam" userId="c7263a605f2416ed" providerId="LiveId" clId="{17604387-8CF3-450D-8459-EBD68BD0DB89}" dt="2026-07-18T05:27:45.937" v="196" actId="14100"/>
        <pc:sldMkLst>
          <pc:docMk/>
          <pc:sldMk cId="755382" sldId="290"/>
        </pc:sldMkLst>
        <pc:picChg chg="add mod">
          <ac:chgData name="Raj Kadam" userId="c7263a605f2416ed" providerId="LiveId" clId="{17604387-8CF3-450D-8459-EBD68BD0DB89}" dt="2026-07-18T05:27:45.937" v="196" actId="14100"/>
          <ac:picMkLst>
            <pc:docMk/>
            <pc:sldMk cId="755382" sldId="290"/>
            <ac:picMk id="4" creationId="{020F7AF4-1055-3977-74C5-6E93E3F5ADC9}"/>
          </ac:picMkLst>
        </pc:picChg>
        <pc:picChg chg="del">
          <ac:chgData name="Raj Kadam" userId="c7263a605f2416ed" providerId="LiveId" clId="{17604387-8CF3-450D-8459-EBD68BD0DB89}" dt="2026-07-18T05:27:21.792" v="190" actId="478"/>
          <ac:picMkLst>
            <pc:docMk/>
            <pc:sldMk cId="755382" sldId="290"/>
            <ac:picMk id="6" creationId="{A0D6461E-DA88-AFE8-EAFF-84E9A424BF26}"/>
          </ac:picMkLst>
        </pc:picChg>
      </pc:sldChg>
      <pc:sldChg chg="addSp delSp modSp mod">
        <pc:chgData name="Raj Kadam" userId="c7263a605f2416ed" providerId="LiveId" clId="{17604387-8CF3-450D-8459-EBD68BD0DB89}" dt="2026-07-18T05:31:55.348" v="207" actId="14100"/>
        <pc:sldMkLst>
          <pc:docMk/>
          <pc:sldMk cId="3146073034" sldId="291"/>
        </pc:sldMkLst>
        <pc:picChg chg="del">
          <ac:chgData name="Raj Kadam" userId="c7263a605f2416ed" providerId="LiveId" clId="{17604387-8CF3-450D-8459-EBD68BD0DB89}" dt="2026-07-18T05:31:32.409" v="200" actId="478"/>
          <ac:picMkLst>
            <pc:docMk/>
            <pc:sldMk cId="3146073034" sldId="291"/>
            <ac:picMk id="5" creationId="{6EA8F3D0-52BA-100E-3FD8-228494F48350}"/>
          </ac:picMkLst>
        </pc:picChg>
        <pc:picChg chg="add del mod">
          <ac:chgData name="Raj Kadam" userId="c7263a605f2416ed" providerId="LiveId" clId="{17604387-8CF3-450D-8459-EBD68BD0DB89}" dt="2026-07-18T05:31:30.100" v="199" actId="931"/>
          <ac:picMkLst>
            <pc:docMk/>
            <pc:sldMk cId="3146073034" sldId="291"/>
            <ac:picMk id="6" creationId="{764E82BF-5203-7596-7E28-BBE01E266FD0}"/>
          </ac:picMkLst>
        </pc:picChg>
        <pc:picChg chg="add mod">
          <ac:chgData name="Raj Kadam" userId="c7263a605f2416ed" providerId="LiveId" clId="{17604387-8CF3-450D-8459-EBD68BD0DB89}" dt="2026-07-18T05:31:55.348" v="207" actId="14100"/>
          <ac:picMkLst>
            <pc:docMk/>
            <pc:sldMk cId="3146073034" sldId="291"/>
            <ac:picMk id="8" creationId="{E4D5225F-FCD9-5139-C371-A7D6BF954A3A}"/>
          </ac:picMkLst>
        </pc:picChg>
      </pc:sldChg>
      <pc:sldChg chg="addSp modSp mod">
        <pc:chgData name="Raj Kadam" userId="c7263a605f2416ed" providerId="LiveId" clId="{17604387-8CF3-450D-8459-EBD68BD0DB89}" dt="2026-07-18T05:38:38.490" v="213" actId="14100"/>
        <pc:sldMkLst>
          <pc:docMk/>
          <pc:sldMk cId="3342156518" sldId="292"/>
        </pc:sldMkLst>
        <pc:picChg chg="add mod">
          <ac:chgData name="Raj Kadam" userId="c7263a605f2416ed" providerId="LiveId" clId="{17604387-8CF3-450D-8459-EBD68BD0DB89}" dt="2026-07-18T05:38:38.490" v="213" actId="14100"/>
          <ac:picMkLst>
            <pc:docMk/>
            <pc:sldMk cId="3342156518" sldId="292"/>
            <ac:picMk id="5" creationId="{8969D237-2091-B609-8BA9-993716E5CDB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391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9315809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   Payal Kadam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  payalpiukadam23@gmail.com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8485851634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Education</a:t>
            </a:r>
            <a:r>
              <a:rPr lang="en-US" sz="2400" b="1" dirty="0"/>
              <a:t>]</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555702" y="551965"/>
            <a:ext cx="9581177" cy="461665"/>
          </a:xfrm>
          <a:prstGeom prst="rect">
            <a:avLst/>
          </a:prstGeom>
          <a:noFill/>
        </p:spPr>
        <p:txBody>
          <a:bodyPr wrap="square" rtlCol="0">
            <a:spAutoFit/>
          </a:bodyPr>
          <a:lstStyle/>
          <a:p>
            <a:r>
              <a:rPr lang="en-US" sz="2400" b="1" dirty="0"/>
              <a:t>Project Tile – </a:t>
            </a:r>
            <a:r>
              <a:rPr lang="en-IN" sz="2400" b="1" dirty="0"/>
              <a:t>Smart Study Generator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D732AF6B-FB43-D366-03F0-2A5F19FF6558}"/>
              </a:ext>
            </a:extLst>
          </p:cNvPr>
          <p:cNvPicPr>
            <a:picLocks noChangeAspect="1"/>
          </p:cNvPicPr>
          <p:nvPr/>
        </p:nvPicPr>
        <p:blipFill>
          <a:blip r:embed="rId3"/>
          <a:stretch>
            <a:fillRect/>
          </a:stretch>
        </p:blipFill>
        <p:spPr>
          <a:xfrm>
            <a:off x="3940628" y="3690257"/>
            <a:ext cx="1382486" cy="9343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 </a:t>
            </a:r>
            <a:endParaRPr lang="en-US" dirty="0"/>
          </a:p>
          <a:p>
            <a:pPr fontAlgn="base"/>
            <a:endParaRPr lang="en-US" b="1" dirty="0"/>
          </a:p>
          <a:p>
            <a:pPr fontAlgn="base"/>
            <a:r>
              <a:rPr lang="en-US" b="1" dirty="0"/>
              <a:t>The Challenge</a:t>
            </a:r>
            <a:r>
              <a:rPr lang="en-US" dirty="0"/>
              <a:t> </a:t>
            </a:r>
          </a:p>
          <a:p>
            <a:r>
              <a:rPr lang="en-IN" dirty="0"/>
              <a:t>Students today have access to a vast amount of learning resources, including lecture notes, textbooks, research papers, YouTube tutorials, and online courses. However, this information is scattered across multiple platforms, making it difficult to organize, understand, and study effectively. Traditional learning tools provide static notes and lack personalized guidance, making exam preparation time-consuming and less efficient.</a:t>
            </a:r>
          </a:p>
          <a:p>
            <a:pPr fontAlgn="base"/>
            <a:endParaRPr lang="en-US" b="1" dirty="0"/>
          </a:p>
          <a:p>
            <a:pPr fontAlgn="base"/>
            <a:r>
              <a:rPr lang="en-US" b="1" dirty="0"/>
              <a:t> The Objective</a:t>
            </a:r>
            <a:r>
              <a:rPr lang="en-US" dirty="0"/>
              <a:t> </a:t>
            </a:r>
          </a:p>
          <a:p>
            <a:r>
              <a:rPr lang="en-IN" dirty="0"/>
              <a:t>Build an </a:t>
            </a:r>
            <a:r>
              <a:rPr lang="en-IN" b="1" dirty="0"/>
              <a:t>AI-powered Smart Study Generator Agent</a:t>
            </a:r>
            <a:r>
              <a:rPr lang="en-IN" dirty="0"/>
              <a:t> that personalizes and simplifies learning for students. The solution should:</a:t>
            </a:r>
          </a:p>
          <a:p>
            <a:pPr marL="285750" indent="-285750">
              <a:buFont typeface="Arial" panose="020B0604020202020204" pitchFamily="34" charset="0"/>
              <a:buChar char="•"/>
            </a:pPr>
            <a:r>
              <a:rPr lang="en-IN" dirty="0"/>
              <a:t>Aggregate content from lecture notes, textbooks, research papers, and online resources into structured study material. </a:t>
            </a:r>
          </a:p>
          <a:p>
            <a:pPr marL="285750" indent="-285750">
              <a:buFont typeface="Arial" panose="020B0604020202020204" pitchFamily="34" charset="0"/>
              <a:buChar char="•"/>
            </a:pPr>
            <a:r>
              <a:rPr lang="en-IN" dirty="0"/>
              <a:t>Allow students to upload PDFs, notes, images, or voice queries and generate summaries, flashcards, quizzes, and concept maps. </a:t>
            </a:r>
          </a:p>
          <a:p>
            <a:pPr marL="285750" indent="-285750">
              <a:buFont typeface="Arial" panose="020B0604020202020204" pitchFamily="34" charset="0"/>
              <a:buChar char="•"/>
            </a:pPr>
            <a:r>
              <a:rPr lang="en-IN" dirty="0"/>
              <a:t>Create personalized study plans based on syllabus, learning progress, and exam schedules. </a:t>
            </a:r>
          </a:p>
          <a:p>
            <a:pPr marL="285750" indent="-285750">
              <a:buFont typeface="Arial" panose="020B0604020202020204" pitchFamily="34" charset="0"/>
              <a:buChar char="•"/>
            </a:pPr>
            <a:r>
              <a:rPr lang="en-IN" dirty="0"/>
              <a:t>Recommend important topics by </a:t>
            </a:r>
            <a:r>
              <a:rPr lang="en-IN" dirty="0" err="1"/>
              <a:t>analyzing</a:t>
            </a:r>
            <a:r>
              <a:rPr lang="en-IN" dirty="0"/>
              <a:t> previous question papers and study patterns. </a:t>
            </a:r>
          </a:p>
          <a:p>
            <a:pPr marL="285750" indent="-285750">
              <a:buFont typeface="Arial" panose="020B0604020202020204" pitchFamily="34" charset="0"/>
              <a:buChar char="•"/>
            </a:pPr>
            <a:r>
              <a:rPr lang="en-IN" dirty="0"/>
              <a:t>Provide a real-time dashboard to track study progress, identify weak areas, and forecast exam readiness. </a:t>
            </a:r>
          </a:p>
          <a:p>
            <a:pPr marL="285750" indent="-285750">
              <a:buFont typeface="Arial" panose="020B0604020202020204" pitchFamily="34" charset="0"/>
              <a:buChar char="•"/>
            </a:pPr>
            <a:r>
              <a:rPr lang="en-IN" dirty="0"/>
              <a:t>Use </a:t>
            </a:r>
            <a:r>
              <a:rPr lang="en-IN" b="1" dirty="0"/>
              <a:t>IBM watsonx.ai, IBM Granite Models, IBM </a:t>
            </a:r>
            <a:r>
              <a:rPr lang="en-IN" b="1" dirty="0" err="1"/>
              <a:t>LangFlow</a:t>
            </a:r>
            <a:r>
              <a:rPr lang="en-IN" b="1" dirty="0"/>
              <a:t>/Orchestrate, and RAG</a:t>
            </a:r>
            <a:r>
              <a:rPr lang="en-IN" dirty="0"/>
              <a:t> to deliver accurate and intelligent learning assistance.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539430"/>
          </a:xfrm>
          <a:prstGeom prst="rect">
            <a:avLst/>
          </a:prstGeom>
          <a:noFill/>
        </p:spPr>
        <p:txBody>
          <a:bodyPr wrap="square" rtlCol="0">
            <a:spAutoFit/>
          </a:bodyPr>
          <a:lstStyle/>
          <a:p>
            <a:pPr fontAlgn="base"/>
            <a:endParaRPr lang="en-US" b="1" dirty="0"/>
          </a:p>
          <a:p>
            <a:r>
              <a:rPr lang="en-US" b="1" dirty="0"/>
              <a:t>Proposed Solution: </a:t>
            </a:r>
          </a:p>
          <a:p>
            <a:r>
              <a:rPr lang="en-IN" dirty="0"/>
              <a:t>The proposed solution is an </a:t>
            </a:r>
            <a:r>
              <a:rPr lang="en-IN" b="1" dirty="0"/>
              <a:t>AI-powered Smart Study Generator Agent</a:t>
            </a:r>
            <a:r>
              <a:rPr lang="en-IN" dirty="0"/>
              <a:t> built using </a:t>
            </a:r>
            <a:r>
              <a:rPr lang="en-IN" b="1" dirty="0"/>
              <a:t>IBM watsonx.ai, IBM Granite Models, IBM </a:t>
            </a:r>
            <a:r>
              <a:rPr lang="en-IN" b="1" dirty="0" err="1"/>
              <a:t>LangFlow</a:t>
            </a:r>
            <a:r>
              <a:rPr lang="en-IN" b="1" dirty="0"/>
              <a:t>, IBM Cloud, and Retrieval-Augmented Generation (RAG)</a:t>
            </a:r>
            <a:r>
              <a:rPr lang="en-IN" dirty="0"/>
              <a:t>. The system acts as an intelligent study assistant that helps students learn efficiently by organizing learning resources and providing personalized study guidance.</a:t>
            </a:r>
          </a:p>
          <a:p>
            <a:r>
              <a:rPr lang="en-IN" dirty="0"/>
              <a:t>The solution combines class notes, textbooks, PDFs, research papers, and online learning materials into one platform. Using RAG, it retrieves relevant educational content and generates concise summaries, flashcards, concept explanations, and quizzes.</a:t>
            </a:r>
          </a:p>
          <a:p>
            <a:r>
              <a:rPr lang="en-IN" dirty="0"/>
              <a:t>The system consists of four intelligent agents:</a:t>
            </a:r>
          </a:p>
          <a:p>
            <a:pPr marL="285750" indent="-285750">
              <a:buFont typeface="Arial" panose="020B0604020202020204" pitchFamily="34" charset="0"/>
              <a:buChar char="•"/>
            </a:pPr>
            <a:r>
              <a:rPr lang="en-IN" b="1" dirty="0"/>
              <a:t>Knowledge Retrieval Agent</a:t>
            </a:r>
            <a:r>
              <a:rPr lang="en-IN" dirty="0"/>
              <a:t> – Retrieves information from notes, books, and uploaded documents using RAG. </a:t>
            </a:r>
          </a:p>
          <a:p>
            <a:pPr marL="285750" indent="-285750">
              <a:buFont typeface="Arial" panose="020B0604020202020204" pitchFamily="34" charset="0"/>
              <a:buChar char="•"/>
            </a:pPr>
            <a:r>
              <a:rPr lang="en-IN" b="1" dirty="0"/>
              <a:t>Study Planner Agent</a:t>
            </a:r>
            <a:r>
              <a:rPr lang="en-IN" dirty="0"/>
              <a:t> – Creates personalized study schedules based on syllabus, exam dates, and learning progress. </a:t>
            </a:r>
          </a:p>
          <a:p>
            <a:pPr marL="285750" indent="-285750">
              <a:buFont typeface="Arial" panose="020B0604020202020204" pitchFamily="34" charset="0"/>
              <a:buChar char="•"/>
            </a:pPr>
            <a:r>
              <a:rPr lang="en-IN" b="1" dirty="0"/>
              <a:t>Content Generator Agent</a:t>
            </a:r>
            <a:r>
              <a:rPr lang="en-IN" dirty="0"/>
              <a:t> – Generates summaries, flashcards, quizzes, and concept maps. </a:t>
            </a:r>
          </a:p>
          <a:p>
            <a:pPr marL="285750" indent="-285750">
              <a:buFont typeface="Arial" panose="020B0604020202020204" pitchFamily="34" charset="0"/>
              <a:buChar char="•"/>
            </a:pPr>
            <a:r>
              <a:rPr lang="en-IN" b="1" dirty="0"/>
              <a:t>Performance Analysis Agent</a:t>
            </a:r>
            <a:r>
              <a:rPr lang="en-IN" dirty="0"/>
              <a:t> – Tracks learning progress, identifies weak topics, and recommends improvement strategies. </a:t>
            </a:r>
          </a:p>
          <a:p>
            <a:r>
              <a:rPr lang="en-IN" dirty="0"/>
              <a:t>        An interactive dashboard allows students to upload notes, ask questions, and monitor study progress in real time.</a:t>
            </a:r>
          </a:p>
          <a:p>
            <a:br>
              <a:rPr lang="en-IN" dirty="0"/>
            </a:br>
            <a:endParaRPr lang="en-IN"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Orchestrate 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478423"/>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IN" dirty="0"/>
              <a:t> Displays AI-generated study summaries, personalized learning recommendations, quizzes, flashcards, and answers to student queries.</a:t>
            </a:r>
            <a:endParaRPr lang="en-US" dirty="0"/>
          </a:p>
          <a:p>
            <a:endParaRPr lang="en-US" dirty="0"/>
          </a:p>
          <a:p>
            <a:r>
              <a:rPr lang="en-US" b="1" dirty="0"/>
              <a:t>5) File component - </a:t>
            </a:r>
            <a:r>
              <a:rPr lang="en-IN" dirty="0"/>
              <a:t> Stores and retrieves student notes, PDFs, textbooks, and study materials for RAG-based learning, summarization, and personalized study assistance.</a:t>
            </a:r>
          </a:p>
          <a:p>
            <a:endParaRPr lang="en-US" dirty="0">
              <a:highlight>
                <a:srgbClr val="FFFF00"/>
              </a:highlight>
            </a:endParaRPr>
          </a:p>
          <a:p>
            <a:endParaRPr lang="en-US" dirty="0"/>
          </a:p>
          <a:p>
            <a:endParaRPr lang="en-US" dirty="0"/>
          </a:p>
          <a:p>
            <a:endParaRPr lang="en-US" dirty="0">
              <a:highlight>
                <a:srgbClr val="FFFF00"/>
              </a:highlight>
            </a:endParaRP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4" name="Picture 3">
            <a:extLst>
              <a:ext uri="{FF2B5EF4-FFF2-40B4-BE49-F238E27FC236}">
                <a16:creationId xmlns:a16="http://schemas.microsoft.com/office/drawing/2014/main" id="{DB544E61-0560-86C9-A104-D67FA816CB53}"/>
              </a:ext>
            </a:extLst>
          </p:cNvPr>
          <p:cNvPicPr>
            <a:picLocks noChangeAspect="1"/>
          </p:cNvPicPr>
          <p:nvPr/>
        </p:nvPicPr>
        <p:blipFill>
          <a:blip r:embed="rId3"/>
          <a:stretch>
            <a:fillRect/>
          </a:stretch>
        </p:blipFill>
        <p:spPr>
          <a:xfrm>
            <a:off x="1110342" y="1208313"/>
            <a:ext cx="10101944" cy="520337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458060A-E278-BD66-87FB-2E75164BF6A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4B8BE564-07ED-5E4D-A85D-C78B8A391EE9}"/>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Document Uploaded Screenshot (If applicable)-</a:t>
            </a:r>
            <a:endParaRPr sz="2400" b="1" dirty="0">
              <a:sym typeface="Times New Roman"/>
            </a:endParaRPr>
          </a:p>
        </p:txBody>
      </p:sp>
      <p:pic>
        <p:nvPicPr>
          <p:cNvPr id="4" name="Picture 3">
            <a:extLst>
              <a:ext uri="{FF2B5EF4-FFF2-40B4-BE49-F238E27FC236}">
                <a16:creationId xmlns:a16="http://schemas.microsoft.com/office/drawing/2014/main" id="{020F7AF4-1055-3977-74C5-6E93E3F5ADC9}"/>
              </a:ext>
            </a:extLst>
          </p:cNvPr>
          <p:cNvPicPr>
            <a:picLocks noChangeAspect="1"/>
          </p:cNvPicPr>
          <p:nvPr/>
        </p:nvPicPr>
        <p:blipFill>
          <a:blip r:embed="rId3"/>
          <a:stretch>
            <a:fillRect/>
          </a:stretch>
        </p:blipFill>
        <p:spPr>
          <a:xfrm>
            <a:off x="1079500" y="1665513"/>
            <a:ext cx="9882414" cy="4811375"/>
          </a:xfrm>
          <a:prstGeom prst="rect">
            <a:avLst/>
          </a:prstGeom>
        </p:spPr>
      </p:pic>
    </p:spTree>
    <p:extLst>
      <p:ext uri="{BB962C8B-B14F-4D97-AF65-F5344CB8AC3E}">
        <p14:creationId xmlns:p14="http://schemas.microsoft.com/office/powerpoint/2010/main" val="75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Prompt with output Screenshot: </a:t>
            </a:r>
            <a:endParaRPr lang="en-US"/>
          </a:p>
        </p:txBody>
      </p:sp>
      <p:sp>
        <p:nvSpPr>
          <p:cNvPr id="4" name="TextBox 3">
            <a:extLst>
              <a:ext uri="{FF2B5EF4-FFF2-40B4-BE49-F238E27FC236}">
                <a16:creationId xmlns:a16="http://schemas.microsoft.com/office/drawing/2014/main" id="{878DC055-9DE8-731B-4573-E65371EBEDCA}"/>
              </a:ext>
            </a:extLst>
          </p:cNvPr>
          <p:cNvSpPr txBox="1"/>
          <p:nvPr/>
        </p:nvSpPr>
        <p:spPr>
          <a:xfrm>
            <a:off x="1375037" y="1172400"/>
            <a:ext cx="84919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-Use</a:t>
            </a:r>
            <a:r>
              <a:rPr lang="en-US" sz="2000">
                <a:solidFill>
                  <a:srgbClr val="FF0000"/>
                </a:solidFill>
              </a:rPr>
              <a:t> different slides for multiple screenshots </a:t>
            </a:r>
            <a:endParaRPr lang="en-US"/>
          </a:p>
        </p:txBody>
      </p:sp>
      <p:pic>
        <p:nvPicPr>
          <p:cNvPr id="8" name="Picture 7">
            <a:extLst>
              <a:ext uri="{FF2B5EF4-FFF2-40B4-BE49-F238E27FC236}">
                <a16:creationId xmlns:a16="http://schemas.microsoft.com/office/drawing/2014/main" id="{E4D5225F-FCD9-5139-C371-A7D6BF954A3A}"/>
              </a:ext>
            </a:extLst>
          </p:cNvPr>
          <p:cNvPicPr>
            <a:picLocks noChangeAspect="1"/>
          </p:cNvPicPr>
          <p:nvPr/>
        </p:nvPicPr>
        <p:blipFill>
          <a:blip r:embed="rId3"/>
          <a:stretch>
            <a:fillRect/>
          </a:stretch>
        </p:blipFill>
        <p:spPr>
          <a:xfrm>
            <a:off x="1282700" y="1172400"/>
            <a:ext cx="10096500" cy="5457000"/>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Other Applicable Screenshots: </a:t>
            </a:r>
            <a:endParaRPr lang="en-US"/>
          </a:p>
        </p:txBody>
      </p:sp>
      <p:sp>
        <p:nvSpPr>
          <p:cNvPr id="4" name="TextBox 3">
            <a:extLst>
              <a:ext uri="{FF2B5EF4-FFF2-40B4-BE49-F238E27FC236}">
                <a16:creationId xmlns:a16="http://schemas.microsoft.com/office/drawing/2014/main" id="{878DC055-9DE8-731B-4573-E65371EBEDCA}"/>
              </a:ext>
            </a:extLst>
          </p:cNvPr>
          <p:cNvSpPr txBox="1"/>
          <p:nvPr/>
        </p:nvSpPr>
        <p:spPr>
          <a:xfrm>
            <a:off x="1375037" y="1172400"/>
            <a:ext cx="761421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a:t>
            </a:r>
            <a:r>
              <a:rPr lang="en-US" sz="2000">
                <a:solidFill>
                  <a:srgbClr val="FF0000"/>
                </a:solidFill>
              </a:rPr>
              <a:t> Put multiple screenshots for multiple prompts and outputs </a:t>
            </a:r>
          </a:p>
          <a:p>
            <a:pPr marL="342900" indent="-342900">
              <a:buFont typeface="Calibri"/>
              <a:buChar char="-"/>
            </a:pPr>
            <a:r>
              <a:rPr lang="en-US" sz="2000">
                <a:solidFill>
                  <a:srgbClr val="FF0000"/>
                </a:solidFill>
              </a:rPr>
              <a:t>All the content screenshots should be clearly visible</a:t>
            </a:r>
            <a:endParaRPr lang="en-US" sz="2000" dirty="0">
              <a:solidFill>
                <a:srgbClr val="FF0000"/>
              </a:solidFill>
            </a:endParaRPr>
          </a:p>
        </p:txBody>
      </p:sp>
      <p:pic>
        <p:nvPicPr>
          <p:cNvPr id="5" name="Picture 4">
            <a:extLst>
              <a:ext uri="{FF2B5EF4-FFF2-40B4-BE49-F238E27FC236}">
                <a16:creationId xmlns:a16="http://schemas.microsoft.com/office/drawing/2014/main" id="{8969D237-2091-B609-8BA9-993716E5CDB3}"/>
              </a:ext>
            </a:extLst>
          </p:cNvPr>
          <p:cNvPicPr>
            <a:picLocks noChangeAspect="1"/>
          </p:cNvPicPr>
          <p:nvPr/>
        </p:nvPicPr>
        <p:blipFill>
          <a:blip r:embed="rId3"/>
          <a:stretch>
            <a:fillRect/>
          </a:stretch>
        </p:blipFill>
        <p:spPr>
          <a:xfrm>
            <a:off x="1155701" y="1172400"/>
            <a:ext cx="9779000" cy="5304487"/>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sym typeface="Calibri"/>
              </a:rPr>
              <a:t>Orchestrate architecture blueprint</a:t>
            </a:r>
            <a:endParaRPr lang="en-US" sz="2400" dirty="0">
              <a:solidFill>
                <a:schemeClr val="dk1"/>
              </a:solidFill>
            </a:endParaRPr>
          </a:p>
        </p:txBody>
      </p:sp>
      <p:pic>
        <p:nvPicPr>
          <p:cNvPr id="5" name="Picture 4">
            <a:extLst>
              <a:ext uri="{FF2B5EF4-FFF2-40B4-BE49-F238E27FC236}">
                <a16:creationId xmlns:a16="http://schemas.microsoft.com/office/drawing/2014/main" id="{D2F6A97F-9A98-1979-491F-05D191DE0E40}"/>
              </a:ext>
            </a:extLst>
          </p:cNvPr>
          <p:cNvPicPr>
            <a:picLocks noChangeAspect="1"/>
          </p:cNvPicPr>
          <p:nvPr/>
        </p:nvPicPr>
        <p:blipFill>
          <a:blip r:embed="rId3"/>
          <a:stretch>
            <a:fillRect/>
          </a:stretch>
        </p:blipFill>
        <p:spPr>
          <a:xfrm>
            <a:off x="952500" y="939800"/>
            <a:ext cx="10287000" cy="5461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US" b="1" dirty="0"/>
              <a:t>Role of Agentic AI </a:t>
            </a:r>
          </a:p>
          <a:p>
            <a:r>
              <a:rPr lang="en-IN" dirty="0"/>
              <a:t>Agentic AI enables the </a:t>
            </a:r>
            <a:r>
              <a:rPr lang="en-IN" b="1" dirty="0"/>
              <a:t>Smart Study Generator</a:t>
            </a:r>
            <a:r>
              <a:rPr lang="en-IN" dirty="0"/>
              <a:t> to act as an intelligent and autonomous learning assistant. Instead of only answering questions, it understands the student's learning goals, retrieves relevant study materials, generates personalized summaries, quizzes, flashcards, and study plans, and continuously adapts its responses based on the user's needs.</a:t>
            </a:r>
          </a:p>
          <a:p>
            <a:r>
              <a:rPr lang="en-IN" dirty="0"/>
              <a:t>By integrating </a:t>
            </a:r>
            <a:r>
              <a:rPr lang="en-IN" b="1" dirty="0"/>
              <a:t>IBM watsonx.ai</a:t>
            </a:r>
            <a:r>
              <a:rPr lang="en-IN" dirty="0"/>
              <a:t>, </a:t>
            </a:r>
            <a:r>
              <a:rPr lang="en-IN" b="1" dirty="0"/>
              <a:t>Granite Models</a:t>
            </a:r>
            <a:r>
              <a:rPr lang="en-IN" dirty="0"/>
              <a:t>, </a:t>
            </a:r>
            <a:r>
              <a:rPr lang="en-IN" b="1" dirty="0" err="1"/>
              <a:t>LangFlow</a:t>
            </a:r>
            <a:r>
              <a:rPr lang="en-IN" dirty="0"/>
              <a:t>, and </a:t>
            </a:r>
            <a:r>
              <a:rPr lang="en-IN" b="1" dirty="0"/>
              <a:t>RAG</a:t>
            </a:r>
            <a:r>
              <a:rPr lang="en-IN" dirty="0"/>
              <a:t>, multiple AI agents collaborate to retrieve knowledge, reason over educational content, and provide accurate, context-aware learning support. This makes studying more personalized, interactive, and efficient.</a:t>
            </a:r>
          </a:p>
          <a:p>
            <a:endParaRPr lang="en-IN" dirty="0"/>
          </a:p>
          <a:p>
            <a:r>
              <a:rPr lang="en-IN" dirty="0"/>
              <a:t>Retrieves relevant study material using </a:t>
            </a:r>
            <a:r>
              <a:rPr lang="en-IN" b="1" dirty="0"/>
              <a:t>RAG</a:t>
            </a:r>
          </a:p>
          <a:p>
            <a:r>
              <a:rPr lang="en-IN" dirty="0"/>
              <a:t>. 🧠 Generates summaries, quizzes, and flashcards. </a:t>
            </a:r>
          </a:p>
          <a:p>
            <a:r>
              <a:rPr lang="en-IN" dirty="0"/>
              <a:t>  📅 Creates personalized study plans </a:t>
            </a:r>
          </a:p>
          <a:p>
            <a:r>
              <a:rPr lang="en-IN" dirty="0"/>
              <a:t>. 🎯 Identifies important exam topics and weak areas. </a:t>
            </a:r>
          </a:p>
          <a:p>
            <a:r>
              <a:rPr lang="en-IN" dirty="0"/>
              <a:t> 💬 Provides intelligent, context-aware responses through natural language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462760"/>
          </a:xfrm>
          <a:prstGeom prst="rect">
            <a:avLst/>
          </a:prstGeom>
          <a:noFill/>
        </p:spPr>
        <p:txBody>
          <a:bodyPr wrap="square" rtlCol="0">
            <a:spAutoFit/>
          </a:bodyPr>
          <a:lstStyle/>
          <a:p>
            <a:r>
              <a:rPr lang="en-IN" sz="1800" dirty="0"/>
              <a:t>The </a:t>
            </a:r>
            <a:r>
              <a:rPr lang="en-IN" sz="1800" b="1" dirty="0"/>
              <a:t>Smart Study Generator Agent</a:t>
            </a:r>
            <a:r>
              <a:rPr lang="en-IN" sz="1800" dirty="0"/>
              <a:t> goes beyond traditional study apps by using </a:t>
            </a:r>
            <a:r>
              <a:rPr lang="en-IN" sz="1800" b="1" dirty="0"/>
              <a:t>Agentic AI</a:t>
            </a:r>
            <a:r>
              <a:rPr lang="en-IN" sz="1800" dirty="0"/>
              <a:t> to provide intelligent, personalized, and adaptive learning support.</a:t>
            </a:r>
          </a:p>
          <a:p>
            <a:r>
              <a:rPr lang="en-IN" sz="1800" dirty="0"/>
              <a:t>🤖 </a:t>
            </a:r>
            <a:r>
              <a:rPr lang="en-IN" sz="1800" b="1" dirty="0"/>
              <a:t>Agentic AI-Powered Learning</a:t>
            </a:r>
            <a:r>
              <a:rPr lang="en-IN" sz="1800" dirty="0"/>
              <a:t> – Multiple AI agents collaborate to generate study plans, summaries, quizzes, and flashcards. </a:t>
            </a:r>
          </a:p>
          <a:p>
            <a:r>
              <a:rPr lang="en-IN" sz="1800" dirty="0"/>
              <a:t>📚 </a:t>
            </a:r>
            <a:r>
              <a:rPr lang="en-IN" sz="1800" b="1" dirty="0"/>
              <a:t>RAG-Based Knowledge Retrieval</a:t>
            </a:r>
            <a:r>
              <a:rPr lang="en-IN" sz="1800" dirty="0"/>
              <a:t> – Retrieves accurate information from uploaded notes, PDFs, textbooks, and research papers before generating responses. </a:t>
            </a:r>
          </a:p>
          <a:p>
            <a:r>
              <a:rPr lang="en-IN" sz="1800" dirty="0"/>
              <a:t>🎯 </a:t>
            </a:r>
            <a:r>
              <a:rPr lang="en-IN" sz="1800" b="1" dirty="0"/>
              <a:t>Personalized Study Experience</a:t>
            </a:r>
            <a:r>
              <a:rPr lang="en-IN" sz="1800" dirty="0"/>
              <a:t> – Adapts recommendations based on the student's learning goals, syllabus, and progress. </a:t>
            </a:r>
          </a:p>
          <a:p>
            <a:r>
              <a:rPr lang="en-IN" sz="1800" dirty="0"/>
              <a:t>📊 </a:t>
            </a:r>
            <a:r>
              <a:rPr lang="en-IN" sz="1800" b="1" dirty="0"/>
              <a:t>Smart Progress Tracking</a:t>
            </a:r>
            <a:r>
              <a:rPr lang="en-IN" sz="1800" dirty="0"/>
              <a:t> – Identifies weak areas and recommends topics for focused revision. </a:t>
            </a:r>
          </a:p>
          <a:p>
            <a:r>
              <a:rPr lang="en-IN" sz="1800" dirty="0"/>
              <a:t>☁️ </a:t>
            </a:r>
            <a:r>
              <a:rPr lang="en-IN" sz="1800" b="1" dirty="0"/>
              <a:t>Built on IBM Technologies</a:t>
            </a:r>
            <a:r>
              <a:rPr lang="en-IN" sz="1800" dirty="0"/>
              <a:t> – Powered by </a:t>
            </a:r>
            <a:r>
              <a:rPr lang="en-IN" sz="1800" b="1" dirty="0"/>
              <a:t>IBM watsonx.ai</a:t>
            </a:r>
            <a:r>
              <a:rPr lang="en-IN" sz="1800" dirty="0"/>
              <a:t>, </a:t>
            </a:r>
            <a:r>
              <a:rPr lang="en-IN" sz="1800" b="1" dirty="0"/>
              <a:t>Granite Models</a:t>
            </a:r>
            <a:r>
              <a:rPr lang="en-IN" sz="1800" dirty="0"/>
              <a:t>, </a:t>
            </a:r>
            <a:r>
              <a:rPr lang="en-IN" sz="1800" b="1" dirty="0" err="1"/>
              <a:t>LangFlow</a:t>
            </a:r>
            <a:r>
              <a:rPr lang="en-IN" sz="1800" dirty="0"/>
              <a:t>, and </a:t>
            </a:r>
            <a:r>
              <a:rPr lang="en-IN" sz="1800" b="1" dirty="0"/>
              <a:t>IBM Cloud</a:t>
            </a:r>
            <a:r>
              <a:rPr lang="en-IN" sz="1800" dirty="0"/>
              <a:t> for secure and scalable AI assistance. </a:t>
            </a:r>
          </a:p>
          <a:p>
            <a:r>
              <a:rPr lang="en-IN" sz="1800" b="1" dirty="0"/>
              <a:t>Unique Value:</a:t>
            </a:r>
            <a:br>
              <a:rPr lang="en-IN" sz="1800" dirty="0"/>
            </a:br>
            <a:r>
              <a:rPr lang="en-IN" sz="1800" b="1" dirty="0"/>
              <a:t>Unlike traditional study tools, Smart Study Generator provides an AI-driven, personalized learning experience by combining intelligent agents with Retrieval-Augmented Generation (RAG) to help students learn more effectively.</a:t>
            </a:r>
            <a:endParaRPr lang="en-IN"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721885"/>
          </a:xfrm>
          <a:prstGeom prst="rect">
            <a:avLst/>
          </a:prstGeom>
          <a:noFill/>
          <a:ln>
            <a:noFill/>
          </a:ln>
        </p:spPr>
        <p:txBody>
          <a:bodyPr spcFirstLastPara="1" wrap="square" lIns="0" tIns="0" rIns="0" bIns="0" anchor="t" anchorCtr="0">
            <a:noAutofit/>
          </a:bodyPr>
          <a:lstStyle/>
          <a:p>
            <a:pPr marL="457200" marR="0" lvl="0" indent="-457200" algn="l" rtl="0">
              <a:lnSpc>
                <a:spcPct val="162162"/>
              </a:lnSpc>
              <a:spcBef>
                <a:spcPts val="0"/>
              </a:spcBef>
              <a:spcAft>
                <a:spcPts val="0"/>
              </a:spcAft>
              <a:buClr>
                <a:srgbClr val="2B3541"/>
              </a:buClr>
              <a:buSzPts val="1850"/>
              <a:buFont typeface="Times New Roman"/>
              <a:buAutoNum type="arabicPeriod"/>
            </a:pPr>
            <a:r>
              <a:rPr lang="en-US" sz="1850" b="1" i="0" u="none" strike="noStrike" cap="none" dirty="0">
                <a:solidFill>
                  <a:srgbClr val="2B3541"/>
                </a:solidFill>
                <a:latin typeface="Times New Roman"/>
                <a:ea typeface="Times New Roman"/>
                <a:cs typeface="Times New Roman"/>
                <a:sym typeface="Times New Roman"/>
              </a:rPr>
              <a:t>AI-Powered </a:t>
            </a:r>
            <a:r>
              <a:rPr lang="en-US" sz="1850" b="1" i="0" u="none" strike="noStrike" cap="none">
                <a:solidFill>
                  <a:srgbClr val="2B3541"/>
                </a:solidFill>
                <a:latin typeface="Times New Roman"/>
                <a:ea typeface="Times New Roman"/>
                <a:cs typeface="Times New Roman"/>
                <a:sym typeface="Times New Roman"/>
              </a:rPr>
              <a:t>Adaptive Learning</a:t>
            </a:r>
            <a:br>
              <a:rPr lang="en-US" sz="1850" b="1" i="0" u="none" strike="noStrike" cap="none">
                <a:solidFill>
                  <a:srgbClr val="2B3541"/>
                </a:solidFill>
                <a:latin typeface="Times New Roman"/>
                <a:ea typeface="Times New Roman"/>
                <a:cs typeface="Times New Roman"/>
                <a:sym typeface="Times New Roman"/>
              </a:rPr>
            </a:br>
            <a:r>
              <a:rPr lang="en-US" sz="1850" b="1" i="0" u="none" strike="noStrike" cap="none">
                <a:solidFill>
                  <a:srgbClr val="2B3541"/>
                </a:solidFill>
                <a:latin typeface="Times New Roman"/>
                <a:ea typeface="Times New Roman"/>
                <a:cs typeface="Times New Roman"/>
                <a:sym typeface="Times New Roman"/>
              </a:rPr>
              <a:t> </a:t>
            </a:r>
            <a:r>
              <a:rPr lang="en-US" sz="1850" b="1" i="0" u="none" strike="noStrike" cap="none" dirty="0">
                <a:solidFill>
                  <a:srgbClr val="2B3541"/>
                </a:solidFill>
                <a:latin typeface="Times New Roman"/>
                <a:ea typeface="Times New Roman"/>
                <a:cs typeface="Times New Roman"/>
                <a:sym typeface="Times New Roman"/>
              </a:rPr>
              <a:t>The system will analyze each student's learning progress and automatically generate personalized study plans, adaptive quizzes, and targeted recommendations to improve academic performance. </a:t>
            </a:r>
          </a:p>
          <a:p>
            <a:pPr marL="457200" marR="0" lvl="0" indent="-457200" algn="l" rtl="0">
              <a:lnSpc>
                <a:spcPct val="162162"/>
              </a:lnSpc>
              <a:spcBef>
                <a:spcPts val="0"/>
              </a:spcBef>
              <a:spcAft>
                <a:spcPts val="0"/>
              </a:spcAft>
              <a:buClr>
                <a:srgbClr val="2B3541"/>
              </a:buClr>
              <a:buSzPts val="1850"/>
              <a:buFont typeface="Times New Roman"/>
              <a:buAutoNum type="arabicPeriod"/>
            </a:pPr>
            <a:r>
              <a:rPr lang="en-US" sz="1850" b="1" i="0" u="none" strike="noStrike" cap="none" dirty="0">
                <a:solidFill>
                  <a:srgbClr val="2B3541"/>
                </a:solidFill>
                <a:latin typeface="Times New Roman"/>
                <a:ea typeface="Times New Roman"/>
                <a:cs typeface="Times New Roman"/>
                <a:sym typeface="Times New Roman"/>
              </a:rPr>
              <a:t> LMS &amp; Multi-Platform Integration The Smart Study Generator can be integrated with Google Classroom, Moodle, Microsoft Teams, and Canvas to provide seamless access to study materials, assignments, and progress tracking from a single platform.</a:t>
            </a: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0A5BECA1-6C48-0CA1-D2A1-4B3F67A29A24}"/>
              </a:ext>
            </a:extLst>
          </p:cNvPr>
          <p:cNvPicPr>
            <a:picLocks noChangeAspect="1"/>
          </p:cNvPicPr>
          <p:nvPr/>
        </p:nvPicPr>
        <p:blipFill>
          <a:blip r:embed="rId2"/>
          <a:stretch>
            <a:fillRect/>
          </a:stretch>
        </p:blipFill>
        <p:spPr>
          <a:xfrm>
            <a:off x="2383971" y="1695961"/>
            <a:ext cx="7761515" cy="49546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9F8F6D9B-CA4B-2C29-98C7-1E3335CE1DCE}"/>
              </a:ext>
            </a:extLst>
          </p:cNvPr>
          <p:cNvPicPr>
            <a:picLocks noChangeAspect="1"/>
          </p:cNvPicPr>
          <p:nvPr/>
        </p:nvPicPr>
        <p:blipFill>
          <a:blip r:embed="rId2"/>
          <a:stretch>
            <a:fillRect/>
          </a:stretch>
        </p:blipFill>
        <p:spPr>
          <a:xfrm>
            <a:off x="2198915" y="1643743"/>
            <a:ext cx="8382000" cy="481148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3043</TotalTime>
  <Words>1269</Words>
  <Application>Microsoft Office PowerPoint</Application>
  <PresentationFormat>Widescreen</PresentationFormat>
  <Paragraphs>121</Paragraphs>
  <Slides>18</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Raj Kadam</cp:lastModifiedBy>
  <cp:revision>99</cp:revision>
  <dcterms:created xsi:type="dcterms:W3CDTF">2025-07-08T05:06:56Z</dcterms:created>
  <dcterms:modified xsi:type="dcterms:W3CDTF">2026-07-18T05:46:29Z</dcterms:modified>
</cp:coreProperties>
</file>